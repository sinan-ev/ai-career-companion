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0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Local Dev</c:v>
                  </c:pt>
                  <c:pt idx="1">
                    <c:v>GCP Basic</c:v>
                  </c:pt>
                  <c:pt idx="2">
                    <c:v>GCP + LLM API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432</c:v>
                </c:pt>
                <c:pt idx="2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00B0A0">
              <a:alpha val="25000"/>
            </a:srgbClr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Companion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Analytics &amp; Decision Intelligence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286000" cy="36576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 Report  ·  Job Interview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Sinan EV  · 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92024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416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4023360"/>
            <a:ext cx="192024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0416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44074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4023360"/>
            <a:ext cx="192024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0416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44074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Tools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4023360"/>
            <a:ext cx="192024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0416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44074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Models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926080" cy="228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14300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1143000"/>
            <a:ext cx="54864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17957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Profiling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3990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understanding column types, missing values, distributions.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810512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810512"/>
            <a:ext cx="54864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84708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0665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imputation strategies, data leakage from improper encoding order.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478024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478024"/>
            <a:ext cx="54864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5146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340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but no one understands why predictions are made.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3145536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145536"/>
            <a:ext cx="54864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1821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4015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arrive too late to drive business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Companion — What It Does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 or Excel file → receive charts, predictions, explanations &amp; an executive decision report —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201168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types, quality, semantics &amp; domain with LLM intelligence.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04288" y="2606040"/>
            <a:ext cx="164592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508760"/>
            <a:ext cx="2011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508760"/>
            <a:ext cx="2011680" cy="4572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LLM-planned preprocessing: impute, encode, scale, select features.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98848" y="2606040"/>
            <a:ext cx="164592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508760"/>
            <a:ext cx="2011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08760"/>
            <a:ext cx="2011680" cy="457200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chart loop + RAG-grounded Q&amp;A chat on your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93408" y="2606040"/>
            <a:ext cx="164592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508760"/>
            <a:ext cx="2011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508760"/>
            <a:ext cx="201168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2468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+ SHAP + Forecasting + 7-Agent LangGraph decision report.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1B3A6B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 · Chat portal · Report download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566928"/>
          </a:xfrm>
          <a:prstGeom prst="rect">
            <a:avLst/>
          </a:prstGeom>
          <a:solidFill>
            <a:srgbClr val="1E5799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28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 (main.py)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 · In-memory cache · GCS signed-URL delivery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566928"/>
          </a:xfrm>
          <a:prstGeom prst="rect">
            <a:avLst/>
          </a:prstGeom>
          <a:solidFill>
            <a:srgbClr val="234E80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22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      Module 2        Module 3        Module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| Preprocessing | Analytics + RAG | Future Intelligence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99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 +  GCS Artifacts  +  Vercel Frontend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· CI/CD via GitHub Actions · Production deployment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1664208"/>
            <a:ext cx="274320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258568"/>
            <a:ext cx="274320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2852928"/>
            <a:ext cx="274320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FastAPI monolith · 4 modules · LangGraph orchestration · Cloud-native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sequential pipeline converting a raw file into a richly annotated analytical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34747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417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664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multi-encoding (UTF-8, Latin-1, Win-1252)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34747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286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file / zero-column guard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08960"/>
            <a:ext cx="34747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0896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154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401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/ categorical / datetime / unknown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77640"/>
            <a:ext cx="34747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776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4270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to ≤50K rows for LLM safety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371600"/>
            <a:ext cx="347472" cy="749808"/>
          </a:xfrm>
          <a:prstGeom prst="rect">
            <a:avLst/>
          </a:prstGeom>
          <a:solidFill>
            <a:srgbClr val="00B0A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716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93792" y="1417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1664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%, uniques, duplicates, describe() stats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2402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240280"/>
            <a:ext cx="347472" cy="749808"/>
          </a:xfrm>
          <a:prstGeom prst="rect">
            <a:avLst/>
          </a:prstGeom>
          <a:solidFill>
            <a:srgbClr val="00B0A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402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93792" y="2286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semantic label per column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108960"/>
            <a:ext cx="347472" cy="749808"/>
          </a:xfrm>
          <a:prstGeom prst="rect">
            <a:avLst/>
          </a:prstGeom>
          <a:solidFill>
            <a:srgbClr val="00B0A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0896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93792" y="3154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3792" y="3401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Finance / Healthcare / Retail detection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9776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977640"/>
            <a:ext cx="347472" cy="749808"/>
          </a:xfrm>
          <a:prstGeom prst="rect">
            <a:avLst/>
          </a:prstGeom>
          <a:solidFill>
            <a:srgbClr val="00B0A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9776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93792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93792" y="4270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paragraph AI summary of the dataset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3566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llama-3.1-8b-instant analyses the dataset profile and recommends a customised cleaning sequence.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194560" cy="36576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canonical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if LLM fails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54864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04241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Median/Mean/Mode/Drop imputation by distribution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719072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719072"/>
            <a:ext cx="54864" cy="62179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75564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1993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Tukey Fence capping — preserves row count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432304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432304"/>
            <a:ext cx="54864" cy="621792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46888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2706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One-Hot / Frequency by cardinality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45536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145536"/>
            <a:ext cx="54864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18211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56432" y="34198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/ MinMaxScaler / StandardScaler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858768"/>
            <a:ext cx="5486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858768"/>
            <a:ext cx="54864" cy="621792"/>
          </a:xfrm>
          <a:prstGeom prst="rect">
            <a:avLst/>
          </a:prstGeom>
          <a:solidFill>
            <a:srgbClr val="3DAA7A"/>
          </a:solidFill>
          <a:ln w="12700">
            <a:solidFill>
              <a:srgbClr val="3DA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89534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feature_selection.py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56432" y="41330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 + variance filter → top-30 features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Present-State Analytics &amp; RAG Chat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566160"/>
          </a:xfrm>
          <a:prstGeom prst="rect">
            <a:avLst/>
          </a:prstGeom>
          <a:solidFill>
            <a:srgbClr val="EFF5FF"/>
          </a:solidFill>
          <a:ln w="6350">
            <a:solidFill>
              <a:srgbClr val="D0D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Chart Generation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47472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41832" y="1508760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5453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" y="1783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chartable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58568"/>
            <a:ext cx="347472" cy="59436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5856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1832" y="2258568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2951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2532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Plotly specs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08376"/>
            <a:ext cx="347472" cy="594360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08376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" y="3008376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30449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3272" y="3282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corrects specs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58184"/>
            <a:ext cx="347472" cy="5943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58184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1832" y="3758184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37947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3272" y="40325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→ Plotly 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EFF5FF"/>
          </a:solidFill>
          <a:ln w="6350">
            <a:solidFill>
              <a:srgbClr val="D0DF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Chat Assistant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600200"/>
            <a:ext cx="329184" cy="329184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15819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 — reject off-topic queries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258568"/>
            <a:ext cx="329184" cy="329184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— cosine similarity over dataset metadata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16936"/>
            <a:ext cx="329184" cy="329184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8986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pandas aggregation on analytics DataFrame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575304"/>
            <a:ext cx="329184" cy="329184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5570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LLM response generation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233672"/>
            <a:ext cx="329184" cy="329184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2153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relevance check before returning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Intelligence — LangGraph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specialised AI agents coordinated by a compiled LangGraph StateGraph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1417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AutoML: LGBM/XGB/CatBoost/RF + Calibration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371600"/>
            <a:ext cx="2011680" cy="141732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AutoARIMA inverse-MAE ensemble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2011680" cy="1417320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across 5 CV folds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1371600"/>
            <a:ext cx="201168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anomaly scoring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48740" y="3017520"/>
            <a:ext cx="2011680" cy="1417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874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018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domain-framed LLM recommendations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97580" y="3017520"/>
            <a:ext cx="2011680" cy="1417320"/>
          </a:xfrm>
          <a:prstGeom prst="rect">
            <a:avLst/>
          </a:prstGeom>
          <a:solidFill>
            <a:srgbClr val="3DAA7A"/>
          </a:solidFill>
          <a:ln w="12700">
            <a:solidFill>
              <a:srgbClr val="3DA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758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8902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confidence decree (5-signal score)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46420" y="3017520"/>
            <a:ext cx="2011680" cy="1417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642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3786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Markdown report compilation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Benchmarking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Task 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(Classification or Regression)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92808" y="1554480"/>
            <a:ext cx="137160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29968" y="1097280"/>
            <a:ext cx="16002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0972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48456" y="1554480"/>
            <a:ext cx="137160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5616" y="1097280"/>
            <a:ext cx="16002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10972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 · XGB · CatBoost · RF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04104" y="1554480"/>
            <a:ext cx="137160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41264" y="1097280"/>
            <a:ext cx="16002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10972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/ RMSE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59752" y="1554480"/>
            <a:ext cx="137160" cy="73152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097280"/>
            <a:ext cx="1600200" cy="100584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10972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CalibratedClassifierCV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(Sigmoid method)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 Models + Calibration?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43200"/>
            <a:ext cx="54864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88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035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best on tabular data, handles missing values natively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743200"/>
            <a:ext cx="54864" cy="621792"/>
          </a:xfrm>
          <a:prstGeom prst="rect">
            <a:avLst/>
          </a:prstGeom>
          <a:solidFill>
            <a:srgbClr val="00B0A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788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035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Battle-tested, excellent regularisation, wide library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7472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74720"/>
            <a:ext cx="54864" cy="621792"/>
          </a:xfrm>
          <a:prstGeom prst="rect">
            <a:avLst/>
          </a:prstGeom>
          <a:solidFill>
            <a:srgbClr val="5B6BB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520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handling, minimal preprocessing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7472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474720"/>
            <a:ext cx="54864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520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baseline, interpretable, less prone to overfitting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FORECASTING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AutoARIMA Ensemble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seasonality automatically (weekly, yearly)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Multiplicative trend detection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to missing data and outliers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779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Ideal for 24+ data points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4023360" cy="38404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AutoARIMA (pmdarima)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Stepwise ARIMA order selection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975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Seasonal ARIMA(p,d,q)(P,D,Q)m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Optimal for structured time series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779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Ideal for 12–23 data points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Weighting Formula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= 1 / MAE   →   final_forecast = (Prophet × w₁  +  AutoARIMA × w₂)  /  (w₁ + w₂)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with lower MAE automatically receives higher weight — no manual tuning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 &amp; Root Cause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Computed across 5 CV folds for stability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|SHAP| averaged to reduce noise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Top-10 features mapped to semantic labels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89534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translates to plain-English root causes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97280"/>
            <a:ext cx="2834640" cy="41148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Explainer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Instance Explanations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Fits local linear model around each instance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5786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Perturbs features to observe prediction change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to top-5 highest-confidence predictions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89534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Answers: 'Why was THIS prediction made?'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097280"/>
            <a:ext cx="2834640" cy="411480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Drift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Compares new data vs training baseline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5786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Flags if mean shifts &gt; 2 standard deviations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PSI for categorical feature drift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89534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Drift alerts included in executive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18872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11556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5  ·  Plotly.js  ·  Nginx  ·  Vercel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1188720" cy="65836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3328" y="1115568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FastAPI  ·  Pandas  ·  NumPy  ·  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01368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01368"/>
            <a:ext cx="1188720" cy="658368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0136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AutoML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64208" y="1911096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·  XGBoost  ·  CatBoost  ·  RandomForest  ·  CalibratedClassifierCV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801368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801368"/>
            <a:ext cx="1188720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0136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53328" y="1911096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  ·  pmdarima AutoARIMA  ·  Inverse-MAE Ensemble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96896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96896"/>
            <a:ext cx="1188720" cy="658368"/>
          </a:xfrm>
          <a:prstGeom prst="rect">
            <a:avLst/>
          </a:prstGeom>
          <a:solidFill>
            <a:srgbClr val="3DAA7A"/>
          </a:solidFill>
          <a:ln w="12700">
            <a:solidFill>
              <a:srgbClr val="3DA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9689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64208" y="270662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 ·  LIME  ·  Isolation Forest  ·  Drift Monitor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596896"/>
            <a:ext cx="118872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9689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Agents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270662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llama-3.1-8b-instant  ·  LangGraph  ·  LangChain  ·  RAG Vector Store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39242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92424"/>
            <a:ext cx="14630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9242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38528" y="3502152"/>
            <a:ext cx="6748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Google Cloud Run  ·  GCS  ·  GitHub Actions CI/CD  ·  Ruff  ·  Pytest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Cloud Deployment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 (every push / PR)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55448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8528" y="173736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371600"/>
            <a:ext cx="155448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73736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03904" y="1371600"/>
            <a:ext cx="155448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173736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22976" y="1371600"/>
            <a:ext cx="155448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173736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1371600"/>
            <a:ext cx="1554480" cy="8229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 (merge to main)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1554480" cy="822960"/>
          </a:xfrm>
          <a:prstGeom prst="rect">
            <a:avLst/>
          </a:prstGeom>
          <a:solidFill>
            <a:srgbClr val="1E3A5C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889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 Key)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38528" y="315468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2788920"/>
            <a:ext cx="1554480" cy="822960"/>
          </a:xfrm>
          <a:prstGeom prst="rect">
            <a:avLst/>
          </a:prstGeom>
          <a:solidFill>
            <a:srgbClr val="1E3A5C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27889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 SHA)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15468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03904" y="2788920"/>
            <a:ext cx="1554480" cy="822960"/>
          </a:xfrm>
          <a:prstGeom prst="rect">
            <a:avLst/>
          </a:prstGeom>
          <a:solidFill>
            <a:srgbClr val="1E3A5C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7889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76672" y="315468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22976" y="2788920"/>
            <a:ext cx="1554480" cy="822960"/>
          </a:xfrm>
          <a:prstGeom prst="rect">
            <a:avLst/>
          </a:prstGeom>
          <a:solidFill>
            <a:srgbClr val="1E3A5C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27889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95744" y="3154680"/>
            <a:ext cx="146304" cy="7315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42048" y="2788920"/>
            <a:ext cx="1554480" cy="822960"/>
          </a:xfrm>
          <a:prstGeom prst="rect">
            <a:avLst/>
          </a:prstGeom>
          <a:solidFill>
            <a:srgbClr val="1E3A5C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27889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1148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2-stage build (Stage 1: gcc/g++ compiles ML packages · Stage 2: slim runtime, non-root appuser, health check)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2-stage Alpine (Stage 1: npm build · Stage 2: Nginx serves /dist + proxies /api/* to backend)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09728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65960" cy="109728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2412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Loop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109728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2412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005840"/>
            <a:ext cx="1965960" cy="109728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AutoML Benchmarking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CV, 4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Module 4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agents sequential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RCA Computation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CV folds, TreeExplainer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 + AutoARIMA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Download (GCS)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60-min signed URL redirect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 inference local  ·  Open-source 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  ·  Docker Desktop free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Production (Monthly)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~$30–46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46320" y="2176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 ·  GCS  ·  Artifact Registry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free  ·  GitHub Actions free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3703320"/>
          <a:ext cx="841248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ACHIEVEMENTS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887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9961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CSV/Excel → auto charts, predictions, decision report with no code.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1887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LLM-Augmented Intelligence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149961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column labelling, LLM-planned cleaning, LLM-written recommendations.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06040"/>
            <a:ext cx="548640" cy="548640"/>
          </a:xfrm>
          <a:prstGeom prst="ellipse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4688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AutoML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benchmarking + CalibratedClassifierCV for trustworthy probabilities.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606040"/>
            <a:ext cx="548640" cy="5486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4688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Forecasting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7797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AutoARIMA inverse-MAE weighting — no manual model selection needed.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86200"/>
            <a:ext cx="548640" cy="548640"/>
          </a:xfrm>
          <a:prstGeom prst="ellipse">
            <a:avLst/>
          </a:prstGeom>
          <a:solidFill>
            <a:srgbClr val="3DAA7A"/>
          </a:solidFill>
          <a:ln w="12700">
            <a:solidFill>
              <a:srgbClr val="3DA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749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Across CV Folds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05993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reproducible feature importances averaged across 5 cross-validation folds.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8862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749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05993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StateGraph pipeline — clean state transitions, easy to extend.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Output Variability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plan JSON could be malformed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try/except with canonical fallback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Mismatch at 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wrong predictions in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 artifact persistence; same transformers train &amp; 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File Token Overflow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context window exceeded on 100K+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sampler.py caps at 50K rows before any LLM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Instability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rankings vary across single-fit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across 5 CV folds; mean |SHAP| for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Overconfident Probabilities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reports 99% confidence on uncertain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CalibratedClassifierCV(sigmoid) post-training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D6E4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Lesson: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3708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planning + rule-engine enforcement is the right pattern — LLM provides customisation, deterministic code guarantees safety.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RAG embeddings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(sentence-transformers)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async job execution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Module 4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011680" cy="38404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600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auto-retraining triggers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32004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00B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2004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charts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RAG retrievals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2011680" cy="384048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5B6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00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on GKE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elastic scaling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5B6B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004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Optuna / Ray Tune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1097280"/>
            <a:ext cx="201168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16002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600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3200400"/>
            <a:ext cx="2011680" cy="1417320"/>
          </a:xfrm>
          <a:prstGeom prst="rect">
            <a:avLst/>
          </a:prstGeom>
          <a:solidFill>
            <a:srgbClr val="1B3A6B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2004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connectors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(PostgreSQL, BigQuery)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52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26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React frontend + Nginx + Docker + Cloud Run — end to 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65836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52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426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benchmarking, calibrated probabilities, SHAP explainability, artifact management.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74520"/>
            <a:ext cx="54864" cy="658368"/>
          </a:xfrm>
          <a:prstGeom prst="rect">
            <a:avLst/>
          </a:prstGeom>
          <a:solidFill>
            <a:srgbClr val="5B6BBF"/>
          </a:solidFill>
          <a:ln w="12700">
            <a:solidFill>
              <a:srgbClr val="5B6B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9293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203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+ LangChain + LangGraph — building real LLM-powered pipelines, not demos.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87452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9293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203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Distribution-aware preprocessing, feature engineering, leakage prevention.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51760"/>
            <a:ext cx="54864" cy="658368"/>
          </a:xfrm>
          <a:prstGeom prst="rect">
            <a:avLst/>
          </a:prstGeom>
          <a:solidFill>
            <a:srgbClr val="3DAA7A"/>
          </a:solidFill>
          <a:ln w="12700">
            <a:solidFill>
              <a:srgbClr val="3DA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Thinking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Docker, GCS artifact storage, signed URLs, drift detection.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651760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pipeline, LLM fallbacks, in-memory caching, ordered execution contracts.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29000"/>
            <a:ext cx="54864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4838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" y="37581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LLM-written insights, RAG chat, executive reports — making ML results understandable.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137160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8562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600200" cy="137160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1556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0" y="18562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1600200" cy="137160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11556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749040" y="18562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097280"/>
            <a:ext cx="1600200" cy="137160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11556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486400" y="18562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1600200" cy="1371600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1556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223760" y="18562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8412480" cy="329184"/>
          </a:xfrm>
          <a:prstGeom prst="rect">
            <a:avLst/>
          </a:prstGeom>
          <a:solidFill>
            <a:srgbClr val="162F5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CSV/Excel → get a full analytical report in one web session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81528"/>
            <a:ext cx="841248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815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LLM-augmented at every stage: labelling, planning, chat, recommendations, decisions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65576"/>
            <a:ext cx="8412480" cy="329184"/>
          </a:xfrm>
          <a:prstGeom prst="rect">
            <a:avLst/>
          </a:prstGeom>
          <a:solidFill>
            <a:srgbClr val="162F5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655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Zero-code for end users · Production-grade for engineers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49624"/>
            <a:ext cx="841248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96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Explainable ML: SHAP global + LIME local + plain-English root-cause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33672"/>
            <a:ext cx="8412480" cy="329184"/>
          </a:xfrm>
          <a:prstGeom prst="rect">
            <a:avLst/>
          </a:prstGeom>
          <a:solidFill>
            <a:srgbClr val="162F5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33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Cloud-native: Docker · Google Cloud Run · GCS · Vercel · GitHub Actions CI/CD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841248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177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Cost: USD 0 local development · ~$30/month cloud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00B0A0">
              <a:alpha val="25000"/>
            </a:srgbClr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Companion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Analytics &amp; Decision Intelligence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286000" cy="36576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Sinan EV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ML Engineer  · 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36192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6192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15184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94176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73168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31152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10144" y="4114800"/>
            <a:ext cx="987552" cy="292608"/>
          </a:xfrm>
          <a:prstGeom prst="rect">
            <a:avLst/>
          </a:prstGeom>
          <a:solidFill>
            <a:srgbClr val="1B3A6B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0144" y="4114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Career Companion</dc:title>
  <dc:subject>PptxGenJS Presentation</dc:subject>
  <dc:creator>PptxGenJS</dc:creator>
  <cp:lastModifiedBy>PptxGenJS</cp:lastModifiedBy>
  <cp:revision>1</cp:revision>
  <dcterms:created xsi:type="dcterms:W3CDTF">2026-05-26T09:41:20Z</dcterms:created>
  <dcterms:modified xsi:type="dcterms:W3CDTF">2026-05-26T09:41:20Z</dcterms:modified>
</cp:coreProperties>
</file>